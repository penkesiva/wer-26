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Idea 1 — Gesture-Driven Image Crop for Visual Q&amp;A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1005840"/>
            <a:ext cx="822960" cy="457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100584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74320" y="1691640"/>
            <a:ext cx="1463040" cy="640080"/>
          </a:xfrm>
          <a:prstGeom prst="roundRect">
            <a:avLst>
              <a:gd fmla="val 8571" name="adj"/>
            </a:avLst>
          </a:prstGeom>
          <a:solidFill>
            <a:srgbClr val="E1EDF5"/>
          </a:solidFill>
          <a:ln cap="flat" cmpd="sng" w="19050">
            <a:solidFill>
              <a:srgbClr val="4A7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74320" y="16916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Two-handed gesture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1–2 s visibility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274320" y="2697480"/>
            <a:ext cx="1463040" cy="2834640"/>
          </a:xfrm>
          <a:prstGeom prst="roundRect">
            <a:avLst>
              <a:gd fmla="val 5000" name="adj"/>
            </a:avLst>
          </a:prstGeom>
          <a:solidFill>
            <a:srgbClr val="CFE4F5"/>
          </a:solidFill>
          <a:ln cap="flat" cmpd="sng" w="2540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74320" y="2743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6F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A6FA0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480" y="3154680"/>
            <a:ext cx="118872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11480" y="315468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 FPS buffer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11480" y="3931920"/>
            <a:ext cx="118872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11480" y="393192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Gesture + crop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Detect · lock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11480" y="4709160"/>
            <a:ext cx="1188720" cy="6858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905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11480" y="4709160"/>
            <a:ext cx="1188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Mic &amp; display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286000" y="1005840"/>
            <a:ext cx="5212080" cy="4572000"/>
          </a:xfrm>
          <a:prstGeom prst="roundRect">
            <a:avLst>
              <a:gd fmla="val 1600" name="adj"/>
            </a:avLst>
          </a:prstGeom>
          <a:solidFill>
            <a:srgbClr val="FDE8CC"/>
          </a:solidFill>
          <a:ln cap="flat" cmpd="sng" w="2540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286000" y="10515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6A2B"/>
                </a:solidFill>
                <a:latin typeface="Calibri"/>
                <a:ea typeface="Calibri"/>
                <a:cs typeface="Calibri"/>
                <a:sym typeface="Calibri"/>
              </a:rPr>
              <a:t>Mobile phone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468880" y="1554480"/>
            <a:ext cx="164592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2468880" y="155448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Voice assistant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Hotword · TTS ·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297680" y="1508760"/>
            <a:ext cx="3017520" cy="2468880"/>
          </a:xfrm>
          <a:prstGeom prst="roundRect">
            <a:avLst>
              <a:gd fmla="val 2963" name="adj"/>
            </a:avLst>
          </a:prstGeom>
          <a:solidFill>
            <a:srgbClr val="E6DEF0"/>
          </a:solidFill>
          <a:ln cap="flat" cmpd="sng" w="254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297680" y="1554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57C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E57C2"/>
                </a:solidFill>
                <a:latin typeface="Calibri"/>
                <a:ea typeface="Calibri"/>
                <a:cs typeface="Calibri"/>
                <a:sym typeface="Calibri"/>
              </a:rPr>
              <a:t>SS-Glasses-Core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434840" y="1965960"/>
            <a:ext cx="128016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4434840" y="1965960"/>
            <a:ext cx="1280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EventPolicy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Gates · stability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852160" y="1965960"/>
            <a:ext cx="132588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852160" y="1965960"/>
            <a:ext cx="1325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EventOrch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Crop · route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937760" y="301752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E0D5E8"/>
          </a:solidFill>
          <a:ln cap="flat" cmpd="sng" w="19050">
            <a:solidFill>
              <a:srgbClr val="7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4937760" y="3017520"/>
            <a:ext cx="1783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OEM SDK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gRPC · transport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937760" y="4297680"/>
            <a:ext cx="1783080" cy="822960"/>
          </a:xfrm>
          <a:prstGeom prst="roundRect">
            <a:avLst>
              <a:gd fmla="val 6667" name="adj"/>
            </a:avLst>
          </a:prstGeom>
          <a:solidFill>
            <a:srgbClr val="FAEAD4"/>
          </a:solidFill>
          <a:ln cap="flat" cmpd="sng" w="19050">
            <a:solidFill>
              <a:srgbClr val="B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4937760" y="4297680"/>
            <a:ext cx="1783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GG-Glasses-Core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Cloud session · auth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863840" y="2834640"/>
            <a:ext cx="1828800" cy="1005840"/>
          </a:xfrm>
          <a:prstGeom prst="roundRect">
            <a:avLst>
              <a:gd fmla="val 5455" name="adj"/>
            </a:avLst>
          </a:prstGeom>
          <a:solidFill>
            <a:srgbClr val="D4C8E6"/>
          </a:solidFill>
          <a:ln cap="flat" cmpd="sng" w="19050">
            <a:solidFill>
              <a:srgbClr val="6B4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863840" y="283464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Cloud VLM /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Multimodal 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960120" y="146304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6" name="Google Shape;46;p3"/>
          <p:cNvCxnSpPr/>
          <p:nvPr/>
        </p:nvCxnSpPr>
        <p:spPr>
          <a:xfrm>
            <a:off x="960120" y="2331720"/>
            <a:ext cx="0" cy="82296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" name="Google Shape;47;p3"/>
          <p:cNvCxnSpPr/>
          <p:nvPr/>
        </p:nvCxnSpPr>
        <p:spPr>
          <a:xfrm>
            <a:off x="1737360" y="3291840"/>
            <a:ext cx="3200400" cy="96012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" name="Google Shape;48;p3"/>
          <p:cNvCxnSpPr/>
          <p:nvPr/>
        </p:nvCxnSpPr>
        <p:spPr>
          <a:xfrm>
            <a:off x="5943600" y="2834640"/>
            <a:ext cx="548640" cy="18288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" name="Google Shape;49;p3"/>
          <p:cNvCxnSpPr/>
          <p:nvPr/>
        </p:nvCxnSpPr>
        <p:spPr>
          <a:xfrm>
            <a:off x="5852160" y="3794760"/>
            <a:ext cx="0" cy="50292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" name="Google Shape;50;p3"/>
          <p:cNvCxnSpPr/>
          <p:nvPr/>
        </p:nvCxnSpPr>
        <p:spPr>
          <a:xfrm>
            <a:off x="6720840" y="3520440"/>
            <a:ext cx="1143000" cy="105156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1" name="Google Shape;51;p3"/>
          <p:cNvCxnSpPr/>
          <p:nvPr/>
        </p:nvCxnSpPr>
        <p:spPr>
          <a:xfrm>
            <a:off x="1737360" y="3383280"/>
            <a:ext cx="3200400" cy="164592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52" name="Google Shape;52;p3"/>
          <p:cNvSpPr/>
          <p:nvPr/>
        </p:nvSpPr>
        <p:spPr>
          <a:xfrm>
            <a:off x="217170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CFE4F5"/>
          </a:solidFill>
          <a:ln cap="flat" cmpd="sng" w="1270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217170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49758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DE8CC"/>
          </a:solidFill>
          <a:ln cap="flat" cmpd="sng" w="1270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349758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82346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E6DEF0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482346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SS-Core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14934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E0D5E8"/>
          </a:solidFill>
          <a:ln cap="flat" cmpd="sng" w="12700">
            <a:solidFill>
              <a:srgbClr val="7A5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14934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47522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AEAD4"/>
          </a:solidFill>
          <a:ln cap="flat" cmpd="sng" w="12700">
            <a:solidFill>
              <a:srgbClr val="B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47522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GG-Core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80110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D4C8E6"/>
          </a:solidFill>
          <a:ln cap="flat" cmpd="sng" w="12700">
            <a:solidFill>
              <a:srgbClr val="6B4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80110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921240" y="1005840"/>
            <a:ext cx="2103120" cy="2743200"/>
          </a:xfrm>
          <a:prstGeom prst="roundRect">
            <a:avLst>
              <a:gd fmla="val 2174" name="adj"/>
            </a:avLst>
          </a:prstGeom>
          <a:solidFill>
            <a:srgbClr val="FAFAFA"/>
          </a:solidFill>
          <a:ln cap="flat" cmpd="sng" w="1270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9921240" y="10515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0058400" y="1417320"/>
            <a:ext cx="18288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① Gesture+crop → Orchestrator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② Policy ↔ Orchestrator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③ Orch → OEM SDK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④ OEM → GG-Glasses-Core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⑤ GG-Core → Cloud VLM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⑥ Cloud VLM → GG-Core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⑦ GG-Core → OEM (response)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⑧ OEM → Mic &amp; display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Idea 2 — Mark Car Parking Spot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40080" y="1005840"/>
            <a:ext cx="822960" cy="457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40080" y="100584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65760" y="1691640"/>
            <a:ext cx="1463040" cy="640080"/>
          </a:xfrm>
          <a:prstGeom prst="roundRect">
            <a:avLst>
              <a:gd fmla="val 8571" name="adj"/>
            </a:avLst>
          </a:prstGeom>
          <a:solidFill>
            <a:srgbClr val="E1EDF5"/>
          </a:solidFill>
          <a:ln cap="flat" cmpd="sng" w="19050">
            <a:solidFill>
              <a:srgbClr val="4A7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65760" y="16916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Park &amp; walk away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GPS · motion change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65760" y="2697480"/>
            <a:ext cx="1463040" cy="2560320"/>
          </a:xfrm>
          <a:prstGeom prst="roundRect">
            <a:avLst>
              <a:gd fmla="val 5000" name="adj"/>
            </a:avLst>
          </a:prstGeom>
          <a:solidFill>
            <a:srgbClr val="CFE4F5"/>
          </a:solidFill>
          <a:ln cap="flat" cmpd="sng" w="2540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65760" y="27432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6F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A6FA0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02920" y="3108960"/>
            <a:ext cx="118872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502920" y="310896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" y="4114800"/>
            <a:ext cx="118872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502920" y="4114800"/>
            <a:ext cx="1188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377440" y="1005840"/>
            <a:ext cx="7040880" cy="4937760"/>
          </a:xfrm>
          <a:prstGeom prst="roundRect">
            <a:avLst>
              <a:gd fmla="val 1481" name="adj"/>
            </a:avLst>
          </a:prstGeom>
          <a:solidFill>
            <a:srgbClr val="FDE8CC"/>
          </a:solidFill>
          <a:ln cap="flat" cmpd="sng" w="2540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2377440" y="105156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6A2B"/>
                </a:solidFill>
                <a:latin typeface="Calibri"/>
                <a:ea typeface="Calibri"/>
                <a:cs typeface="Calibri"/>
                <a:sym typeface="Calibri"/>
              </a:rPr>
              <a:t>Mobile phone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560320" y="1554480"/>
            <a:ext cx="1645920" cy="777240"/>
          </a:xfrm>
          <a:prstGeom prst="roundRect">
            <a:avLst>
              <a:gd fmla="val 7059" name="adj"/>
            </a:avLst>
          </a:prstGeom>
          <a:solidFill>
            <a:srgbClr val="FEF5C7"/>
          </a:solidFill>
          <a:ln cap="flat" cmpd="sng" w="19050">
            <a:solidFill>
              <a:srgbClr val="B89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2560320" y="155448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Motion · GPS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589520" y="1554480"/>
            <a:ext cx="164592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589520" y="155448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Voice assistant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Hotword · GPS nudge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434840" y="1508760"/>
            <a:ext cx="3017520" cy="2377440"/>
          </a:xfrm>
          <a:prstGeom prst="roundRect">
            <a:avLst>
              <a:gd fmla="val 3077" name="adj"/>
            </a:avLst>
          </a:prstGeom>
          <a:solidFill>
            <a:srgbClr val="E6DEF0"/>
          </a:solidFill>
          <a:ln cap="flat" cmpd="sng" w="254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4434840" y="155448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57C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E57C2"/>
                </a:solidFill>
                <a:latin typeface="Calibri"/>
                <a:ea typeface="Calibri"/>
                <a:cs typeface="Calibri"/>
                <a:sym typeface="Calibri"/>
              </a:rPr>
              <a:t>SS-Glasses-Core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26280" y="1965960"/>
            <a:ext cx="132588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526280" y="1965960"/>
            <a:ext cx="1325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EventPolicy:Park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Gates · timing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035040" y="1965960"/>
            <a:ext cx="132588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035040" y="1965960"/>
            <a:ext cx="1325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EventOrch:Park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Capture · save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434840" y="4389120"/>
            <a:ext cx="1645920" cy="822960"/>
          </a:xfrm>
          <a:prstGeom prst="roundRect">
            <a:avLst>
              <a:gd fmla="val 6667" name="adj"/>
            </a:avLst>
          </a:prstGeom>
          <a:solidFill>
            <a:srgbClr val="D9EAD3"/>
          </a:solidFill>
          <a:ln cap="flat" cmpd="sng" w="19050">
            <a:solidFill>
              <a:srgbClr val="4E7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434840" y="438912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On-device VLM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Scene + OCR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675120" y="4297680"/>
            <a:ext cx="1737360" cy="164592"/>
          </a:xfrm>
          <a:prstGeom prst="ellipse">
            <a:avLst/>
          </a:prstGeom>
          <a:solidFill>
            <a:srgbClr val="F4D4C4"/>
          </a:solidFill>
          <a:ln cap="flat" cmpd="sng" w="19050">
            <a:solidFill>
              <a:srgbClr val="A85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675120" y="4379976"/>
            <a:ext cx="1737360" cy="841248"/>
          </a:xfrm>
          <a:prstGeom prst="rect">
            <a:avLst/>
          </a:prstGeom>
          <a:solidFill>
            <a:srgbClr val="F4D4C4"/>
          </a:solidFill>
          <a:ln cap="flat" cmpd="sng" w="19050">
            <a:solidFill>
              <a:srgbClr val="A85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675120" y="5138928"/>
            <a:ext cx="1737360" cy="164592"/>
          </a:xfrm>
          <a:prstGeom prst="ellipse">
            <a:avLst/>
          </a:prstGeom>
          <a:solidFill>
            <a:srgbClr val="F4D4C4"/>
          </a:solidFill>
          <a:ln cap="flat" cmpd="sng" w="19050">
            <a:solidFill>
              <a:srgbClr val="A85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675120" y="429768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Ambient-Memory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Frames +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1097280" y="146304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" name="Google Shape;102;p4"/>
          <p:cNvCxnSpPr/>
          <p:nvPr/>
        </p:nvCxnSpPr>
        <p:spPr>
          <a:xfrm>
            <a:off x="1828800" y="1920240"/>
            <a:ext cx="731520" cy="9144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" name="Google Shape;103;p4"/>
          <p:cNvCxnSpPr/>
          <p:nvPr/>
        </p:nvCxnSpPr>
        <p:spPr>
          <a:xfrm>
            <a:off x="4206240" y="1920240"/>
            <a:ext cx="320040" cy="36576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4"/>
          <p:cNvCxnSpPr/>
          <p:nvPr/>
        </p:nvCxnSpPr>
        <p:spPr>
          <a:xfrm>
            <a:off x="5852160" y="237744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4"/>
          <p:cNvCxnSpPr/>
          <p:nvPr/>
        </p:nvCxnSpPr>
        <p:spPr>
          <a:xfrm>
            <a:off x="1691640" y="2377440"/>
            <a:ext cx="5029200" cy="11430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4"/>
          <p:cNvCxnSpPr/>
          <p:nvPr/>
        </p:nvCxnSpPr>
        <p:spPr>
          <a:xfrm>
            <a:off x="1691640" y="2606040"/>
            <a:ext cx="4343400" cy="141732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4"/>
          <p:cNvCxnSpPr/>
          <p:nvPr/>
        </p:nvCxnSpPr>
        <p:spPr>
          <a:xfrm>
            <a:off x="5029200" y="2834640"/>
            <a:ext cx="1325880" cy="155448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4"/>
          <p:cNvCxnSpPr/>
          <p:nvPr/>
        </p:nvCxnSpPr>
        <p:spPr>
          <a:xfrm>
            <a:off x="5029200" y="2834640"/>
            <a:ext cx="1645920" cy="155448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4"/>
          <p:cNvCxnSpPr/>
          <p:nvPr/>
        </p:nvCxnSpPr>
        <p:spPr>
          <a:xfrm>
            <a:off x="7040880" y="2834640"/>
            <a:ext cx="274320" cy="146304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4"/>
          <p:cNvCxnSpPr/>
          <p:nvPr/>
        </p:nvCxnSpPr>
        <p:spPr>
          <a:xfrm>
            <a:off x="7955280" y="2331720"/>
            <a:ext cx="0" cy="196596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" name="Google Shape;111;p4"/>
          <p:cNvSpPr/>
          <p:nvPr/>
        </p:nvSpPr>
        <p:spPr>
          <a:xfrm>
            <a:off x="217170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CFE4F5"/>
          </a:solidFill>
          <a:ln cap="flat" cmpd="sng" w="1270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17170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49758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DE8CC"/>
          </a:solidFill>
          <a:ln cap="flat" cmpd="sng" w="1270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349758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82346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EF5C7"/>
          </a:solidFill>
          <a:ln cap="flat" cmpd="sng" w="12700">
            <a:solidFill>
              <a:srgbClr val="B89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82346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14934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D9EAD3"/>
          </a:solidFill>
          <a:ln cap="flat" cmpd="sng" w="12700">
            <a:solidFill>
              <a:srgbClr val="4E7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14934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747522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4D4C4"/>
          </a:solidFill>
          <a:ln cap="flat" cmpd="sng" w="12700">
            <a:solidFill>
              <a:srgbClr val="A85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747522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Ambient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80110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E6DEF0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880110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SS-Core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921240" y="1005840"/>
            <a:ext cx="2103120" cy="2743200"/>
          </a:xfrm>
          <a:prstGeom prst="roundRect">
            <a:avLst>
              <a:gd fmla="val 2174" name="adj"/>
            </a:avLst>
          </a:prstGeom>
          <a:solidFill>
            <a:srgbClr val="FAFAFA"/>
          </a:solidFill>
          <a:ln cap="flat" cmpd="sng" w="1270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9921240" y="10515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058400" y="1417320"/>
            <a:ext cx="18288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① Sensors → Orch (context)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② Policy ↔ Orch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③ Orch → Mic (audio cue)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④ Orch → Camera (capture)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⑤ Camera → Orch (frames)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⑥ Orch → On-device VLM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⑦ VLM → Orch (scene text)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⑧ Orch → Ambient-Memory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Idea 3 — Visual Food Logging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1005840"/>
            <a:ext cx="822960" cy="4572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48640" y="100584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1783080"/>
            <a:ext cx="1554480" cy="3566160"/>
          </a:xfrm>
          <a:prstGeom prst="roundRect">
            <a:avLst>
              <a:gd fmla="val 4706" name="adj"/>
            </a:avLst>
          </a:prstGeom>
          <a:solidFill>
            <a:srgbClr val="CFE4F5"/>
          </a:solidFill>
          <a:ln cap="flat" cmpd="sng" w="2540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274320" y="182880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6F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A6FA0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11480" y="2240280"/>
            <a:ext cx="128016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11480" y="2240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Policy-shaped capture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11480" y="3154680"/>
            <a:ext cx="1280160" cy="100584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905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11480" y="3154680"/>
            <a:ext cx="1280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Scene Understanding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Low-FPS · plates · café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11480" y="4297680"/>
            <a:ext cx="128016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11480" y="4297680"/>
            <a:ext cx="1280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Mic &amp; display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2377440" y="1005840"/>
            <a:ext cx="5943600" cy="4846320"/>
          </a:xfrm>
          <a:prstGeom prst="roundRect">
            <a:avLst>
              <a:gd fmla="val 1509" name="adj"/>
            </a:avLst>
          </a:prstGeom>
          <a:solidFill>
            <a:srgbClr val="FDE8CC"/>
          </a:solidFill>
          <a:ln cap="flat" cmpd="sng" w="2540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2377440" y="105156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A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6A2B"/>
                </a:solidFill>
                <a:latin typeface="Calibri"/>
                <a:ea typeface="Calibri"/>
                <a:cs typeface="Calibri"/>
                <a:sym typeface="Calibri"/>
              </a:rPr>
              <a:t>Mobile phone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2560320" y="1554480"/>
            <a:ext cx="164592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2560320" y="1554480"/>
            <a:ext cx="1645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Voice assistant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Meal 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389120" y="1554480"/>
            <a:ext cx="1371600" cy="777240"/>
          </a:xfrm>
          <a:prstGeom prst="roundRect">
            <a:avLst>
              <a:gd fmla="val 7059" name="adj"/>
            </a:avLst>
          </a:prstGeom>
          <a:solidFill>
            <a:srgbClr val="FEF5C7"/>
          </a:solidFill>
          <a:ln cap="flat" cmpd="sng" w="19050">
            <a:solidFill>
              <a:srgbClr val="B89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389120" y="155448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Meal windows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897880" y="1508760"/>
            <a:ext cx="2286000" cy="2468880"/>
          </a:xfrm>
          <a:prstGeom prst="roundRect">
            <a:avLst>
              <a:gd fmla="val 3200" name="adj"/>
            </a:avLst>
          </a:prstGeom>
          <a:solidFill>
            <a:srgbClr val="E6DEF0"/>
          </a:solidFill>
          <a:ln cap="flat" cmpd="sng" w="254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897880" y="15544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E57C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E57C2"/>
                </a:solidFill>
                <a:latin typeface="Calibri"/>
                <a:ea typeface="Calibri"/>
                <a:cs typeface="Calibri"/>
                <a:sym typeface="Calibri"/>
              </a:rPr>
              <a:t>SS-Glasses-Core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989320" y="1965960"/>
            <a:ext cx="105156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989320" y="1965960"/>
            <a:ext cx="10515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EventPolicy:Meal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Gates · windows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7132320" y="1965960"/>
            <a:ext cx="9601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905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7132320" y="196596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EventOrch:Meal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Capture · save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560320" y="4389120"/>
            <a:ext cx="1645920" cy="822960"/>
          </a:xfrm>
          <a:prstGeom prst="roundRect">
            <a:avLst>
              <a:gd fmla="val 6667" name="adj"/>
            </a:avLst>
          </a:prstGeom>
          <a:solidFill>
            <a:srgbClr val="D9EAD3"/>
          </a:solidFill>
          <a:ln cap="flat" cmpd="sng" w="19050">
            <a:solidFill>
              <a:srgbClr val="4E7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560320" y="438912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On-device VLM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Scene + OCR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937760" y="4297680"/>
            <a:ext cx="1737360" cy="164592"/>
          </a:xfrm>
          <a:prstGeom prst="ellipse">
            <a:avLst/>
          </a:prstGeom>
          <a:solidFill>
            <a:srgbClr val="F4D4C4"/>
          </a:solidFill>
          <a:ln cap="flat" cmpd="sng" w="19050">
            <a:solidFill>
              <a:srgbClr val="A85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937760" y="4379976"/>
            <a:ext cx="1737360" cy="841248"/>
          </a:xfrm>
          <a:prstGeom prst="rect">
            <a:avLst/>
          </a:prstGeom>
          <a:solidFill>
            <a:srgbClr val="F4D4C4"/>
          </a:solidFill>
          <a:ln cap="flat" cmpd="sng" w="19050">
            <a:solidFill>
              <a:srgbClr val="A85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937760" y="5138928"/>
            <a:ext cx="1737360" cy="164592"/>
          </a:xfrm>
          <a:prstGeom prst="ellipse">
            <a:avLst/>
          </a:prstGeom>
          <a:solidFill>
            <a:srgbClr val="F4D4C4"/>
          </a:solidFill>
          <a:ln cap="flat" cmpd="sng" w="19050">
            <a:solidFill>
              <a:srgbClr val="A85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937760" y="429768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Ambient-Memory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Meal entries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8412480" y="2834640"/>
            <a:ext cx="1691640" cy="1005840"/>
          </a:xfrm>
          <a:prstGeom prst="roundRect">
            <a:avLst>
              <a:gd fmla="val 5455" name="adj"/>
            </a:avLst>
          </a:prstGeom>
          <a:solidFill>
            <a:srgbClr val="F0CDD9"/>
          </a:solidFill>
          <a:ln cap="flat" cmpd="sng" w="19050">
            <a:solidFill>
              <a:srgbClr val="A8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412480" y="283464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Nutrition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Calories · macros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1051560" y="3063240"/>
            <a:ext cx="0" cy="9144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5"/>
          <p:cNvCxnSpPr/>
          <p:nvPr/>
        </p:nvCxnSpPr>
        <p:spPr>
          <a:xfrm>
            <a:off x="1737360" y="2377440"/>
            <a:ext cx="4251960" cy="128016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5"/>
          <p:cNvCxnSpPr/>
          <p:nvPr/>
        </p:nvCxnSpPr>
        <p:spPr>
          <a:xfrm>
            <a:off x="5074920" y="1920240"/>
            <a:ext cx="914400" cy="36576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p5"/>
          <p:cNvCxnSpPr/>
          <p:nvPr/>
        </p:nvCxnSpPr>
        <p:spPr>
          <a:xfrm>
            <a:off x="7040880" y="2423160"/>
            <a:ext cx="91440" cy="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p5"/>
          <p:cNvCxnSpPr/>
          <p:nvPr/>
        </p:nvCxnSpPr>
        <p:spPr>
          <a:xfrm>
            <a:off x="1737360" y="2834640"/>
            <a:ext cx="5394960" cy="187452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5"/>
          <p:cNvCxnSpPr/>
          <p:nvPr/>
        </p:nvCxnSpPr>
        <p:spPr>
          <a:xfrm>
            <a:off x="3383280" y="2788920"/>
            <a:ext cx="3749040" cy="160020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5"/>
          <p:cNvCxnSpPr/>
          <p:nvPr/>
        </p:nvCxnSpPr>
        <p:spPr>
          <a:xfrm>
            <a:off x="3383280" y="2834640"/>
            <a:ext cx="3749040" cy="155448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5"/>
          <p:cNvCxnSpPr/>
          <p:nvPr/>
        </p:nvCxnSpPr>
        <p:spPr>
          <a:xfrm>
            <a:off x="5806440" y="2926080"/>
            <a:ext cx="1508760" cy="141732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5"/>
          <p:cNvCxnSpPr/>
          <p:nvPr/>
        </p:nvCxnSpPr>
        <p:spPr>
          <a:xfrm>
            <a:off x="8092440" y="2560320"/>
            <a:ext cx="320040" cy="548640"/>
          </a:xfrm>
          <a:prstGeom prst="straightConnector1">
            <a:avLst/>
          </a:prstGeom>
          <a:noFill/>
          <a:ln cap="flat" cmpd="sng" w="25400">
            <a:solidFill>
              <a:srgbClr val="55555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1" name="Google Shape;171;p5"/>
          <p:cNvSpPr/>
          <p:nvPr/>
        </p:nvSpPr>
        <p:spPr>
          <a:xfrm>
            <a:off x="150876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CFE4F5"/>
          </a:solidFill>
          <a:ln cap="flat" cmpd="sng" w="12700">
            <a:solidFill>
              <a:srgbClr val="3A6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150876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83464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DE8CC"/>
          </a:solidFill>
          <a:ln cap="flat" cmpd="sng" w="12700">
            <a:solidFill>
              <a:srgbClr val="B86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83464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16052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EF5C7"/>
          </a:solidFill>
          <a:ln cap="flat" cmpd="sng" w="12700">
            <a:solidFill>
              <a:srgbClr val="B89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16052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48640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D9EAD3"/>
          </a:solidFill>
          <a:ln cap="flat" cmpd="sng" w="12700">
            <a:solidFill>
              <a:srgbClr val="4E7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48640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VLM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81228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4D4C4"/>
          </a:solidFill>
          <a:ln cap="flat" cmpd="sng" w="12700">
            <a:solidFill>
              <a:srgbClr val="A85A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81228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Ambient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813816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E6DEF0"/>
          </a:solidFill>
          <a:ln cap="flat" cmpd="sng" w="12700">
            <a:solidFill>
              <a:srgbClr val="7E57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813816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SS-Core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9464040" y="6400800"/>
            <a:ext cx="1188720" cy="292608"/>
          </a:xfrm>
          <a:prstGeom prst="roundRect">
            <a:avLst>
              <a:gd fmla="val 15625" name="adj"/>
            </a:avLst>
          </a:prstGeom>
          <a:solidFill>
            <a:srgbClr val="F0CDD9"/>
          </a:solidFill>
          <a:ln cap="flat" cmpd="sng" w="12700">
            <a:solidFill>
              <a:srgbClr val="A83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464040" y="6400800"/>
            <a:ext cx="1188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Nut-API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10241280" y="1005840"/>
            <a:ext cx="1783080" cy="4114800"/>
          </a:xfrm>
          <a:prstGeom prst="roundRect">
            <a:avLst>
              <a:gd fmla="val 2564" name="adj"/>
            </a:avLst>
          </a:prstGeom>
          <a:solidFill>
            <a:srgbClr val="FAFAFA"/>
          </a:solidFill>
          <a:ln cap="flat" cmpd="sng" w="12700">
            <a:solidFill>
              <a:srgbClr val="BDBD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10241280" y="1051560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0378440" y="1417320"/>
            <a:ext cx="150876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① Scene Understanding → Orch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② Clock → Orch (time context)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③ Policy ↔ Orch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④ Orch → Mic (cue)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⑤ Orch → Camera (capture)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⑥ Camera → Orch (photo)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⑦ Orch → VLM (analyze)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⑧ VLM → Orch (text)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⑨ Orch → Nutrition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⑩ Nutrition API → Orch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11111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⑪ Orch → Ambient-Memory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